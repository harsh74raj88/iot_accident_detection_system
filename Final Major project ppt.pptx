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image" Target="../media/image-5-8.jpeg"/><Relationship Id="rId9" Type="http://schemas.openxmlformats.org/officeDocument/2006/relationships/image" Target="../media/image-5-9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11334A"/>
          </a:solidFill>
          <a:ln w="12700">
            <a:solidFill>
              <a:srgbClr val="113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64808" y="795528"/>
            <a:ext cx="5084064" cy="5175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1F33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WhatsApp Image 2026-05-24 at 4.04.30 PM.jpeg">    </p:cNvPr>
          <p:cNvPicPr>
            <a:picLocks noChangeAspect="1"/>
          </p:cNvPicPr>
          <p:nvPr/>
        </p:nvPicPr>
        <p:blipFill>
          <a:blip r:embed="rId1"/>
          <a:srcRect l="8000" r="-17805" t="6000" b="4000"/>
          <a:stretch/>
        </p:blipFill>
        <p:spPr>
          <a:xfrm>
            <a:off x="6492240" y="822960"/>
            <a:ext cx="50292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914400"/>
            <a:ext cx="5669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IoT-Based Vehicle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Accident Detection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Emergency Alert System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658368" y="2834640"/>
            <a:ext cx="3017520" cy="0"/>
          </a:xfrm>
          <a:prstGeom prst="line">
            <a:avLst/>
          </a:prstGeom>
          <a:noFill/>
          <a:ln w="38100">
            <a:solidFill>
              <a:srgbClr val="33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F7FF"/>
                </a:solidFill>
              </a:rPr>
              <a:t>ESP32 • Sensor Fusion • GPS • Telegram • SMS API • LoRa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" y="6080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C7D2"/>
                </a:solidFill>
              </a:rPr>
              <a:t>Major Project Presentation | B.Tech CSE (IoT) | May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C7D2"/>
                </a:solidFill>
              </a:rPr>
              <a:t>Guide: Prof. Bhawana Singh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accident alerts are often delayed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system is designed to shorten the time between accident detection and emergency contact notification.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377440"/>
            <a:ext cx="100584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60520" y="2377440"/>
            <a:ext cx="100584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63640" y="2377440"/>
            <a:ext cx="100584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66760" y="2377440"/>
            <a:ext cx="100584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1463040" cy="100584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ACCIDENT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EVENT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1463040" cy="100584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F6B93B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NO QUICK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1463040" cy="1005840"/>
          </a:xfrm>
          <a:prstGeom prst="roundRect">
            <a:avLst/>
          </a:prstGeom>
          <a:solidFill>
            <a:srgbClr val="F3E8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CONTACT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1874520"/>
            <a:ext cx="1463040" cy="100584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RESPONSE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0" y="1874520"/>
            <a:ext cx="1463040" cy="100584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AUTOMATED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ALERT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98480" cy="1051560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69080"/>
            <a:ext cx="10332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The main challenge is to detect accident-like motion reliably, confirm it before sending false alerts, and deliver a GPS-based emergency message through multiple communication channels.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5788152"/>
            <a:ext cx="1371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Detection states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51760" y="5788152"/>
            <a:ext cx="1371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Alert channels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3484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B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43400" y="5788152"/>
            <a:ext cx="1371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Cancel window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648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5040" y="5788152"/>
            <a:ext cx="1371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Location link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1812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Buzzer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26680" y="5788152"/>
            <a:ext cx="13716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Local warning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snapshot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compact IoT prototype that senses accident conditions and automatically communicates the location.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5358384" cy="43525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WhatsApp Image 2026-05-24 at 4.04.30 PM.jpeg">    </p:cNvPr>
          <p:cNvPicPr>
            <a:picLocks noChangeAspect="1"/>
          </p:cNvPicPr>
          <p:nvPr/>
        </p:nvPicPr>
        <p:blipFill>
          <a:blip r:embed="rId1"/>
          <a:srcRect l="2000" r="-43033" t="2000" b="6000"/>
          <a:stretch/>
        </p:blipFill>
        <p:spPr>
          <a:xfrm>
            <a:off x="685800" y="1234440"/>
            <a:ext cx="530352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53035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Breadboard prototype with ESP32, MPU, GPS, OLED, buzzer and cancel button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922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does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510528" y="1874520"/>
            <a:ext cx="146304" cy="14630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783080"/>
            <a:ext cx="4526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02A43"/>
                </a:solidFill>
              </a:rPr>
              <a:t>Detects impact and abnormal tilt using MPU9250/6500 sensor fusion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6510528" y="2532888"/>
            <a:ext cx="146304" cy="146304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441448"/>
            <a:ext cx="4526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02A43"/>
                </a:solidFill>
              </a:rPr>
              <a:t>Fetches latitude, longitude and speed from GPS module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6510528" y="3191256"/>
            <a:ext cx="146304" cy="146304"/>
          </a:xfrm>
          <a:prstGeom prst="ellipse">
            <a:avLst/>
          </a:prstGeom>
          <a:solidFill>
            <a:srgbClr val="F6B93B"/>
          </a:solidFill>
          <a:ln w="12700">
            <a:solidFill>
              <a:srgbClr val="F6B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3099816"/>
            <a:ext cx="4526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02A43"/>
                </a:solidFill>
              </a:rPr>
              <a:t>Shows live status on OLED and warns locally through buzzer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6510528" y="384962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84848" y="3758184"/>
            <a:ext cx="4526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02A43"/>
                </a:solidFill>
              </a:rPr>
              <a:t>Sends accident alert through Telegram, Fast2SMS and LoRa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6510528" y="4507992"/>
            <a:ext cx="146304" cy="14630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4416552"/>
            <a:ext cx="4526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02A43"/>
                </a:solidFill>
              </a:rPr>
              <a:t>Avoids false alerts using cancel button before final confirmation</a:t>
            </a:r>
            <a:endParaRPr lang="en-US" sz="1230" dirty="0"/>
          </a:p>
        </p:txBody>
      </p:sp>
      <p:sp>
        <p:nvSpPr>
          <p:cNvPr id="20" name="Text 17"/>
          <p:cNvSpPr/>
          <p:nvPr/>
        </p:nvSpPr>
        <p:spPr>
          <a:xfrm>
            <a:off x="6492240" y="5623560"/>
            <a:ext cx="4297680" cy="384048"/>
          </a:xfrm>
          <a:prstGeom prst="roundRect">
            <a:avLst>
              <a:gd name="adj" fmla="val 19048"/>
            </a:avLst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monitoring + emergency messaging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design combines detection accuracy, user safety and multi-channel communication.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0A6A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9032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Sense accident motion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1901952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Measure acceleration, gyroscope movement and tilt changes using MPU9250/6500.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26280" y="1554480"/>
            <a:ext cx="457200" cy="457200"/>
          </a:xfrm>
          <a:prstGeom prst="ellipse">
            <a:avLst/>
          </a:prstGeom>
          <a:solidFill>
            <a:srgbClr val="00B89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8072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before alert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48072" y="1901952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Use impact + tilt + time-window logic and cancel button to reduce false messages.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1554480"/>
            <a:ext cx="457200" cy="457200"/>
          </a:xfrm>
          <a:prstGeom prst="ellipse">
            <a:avLst/>
          </a:prstGeom>
          <a:solidFill>
            <a:srgbClr val="F6B93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7112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Attach GPS location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97112" y="1901952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Generate latitude, longitude, speed and Google Maps link automatically.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7480" y="3977640"/>
            <a:ext cx="457200" cy="457200"/>
          </a:xfrm>
          <a:prstGeom prst="ellipse">
            <a:avLst/>
          </a:prstGeom>
          <a:solidFill>
            <a:srgbClr val="7C3A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9272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Notify contacts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9272" y="4325112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Send emergency alert using Telegram Bot, Fast2SMS and LoRa receiver.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rgbClr val="E74C3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live status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68312" y="4325112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Use OLED and buzzer to make the prototype understandable during demo.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used in the prototype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Core sensing, processing, display, power and communication modules.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90288" y="1892808"/>
            <a:ext cx="2889504" cy="24323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WhatsApp Image 2026-05-24 at 2.49.06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0159" y="1920240"/>
            <a:ext cx="1289761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17720" y="4343400"/>
            <a:ext cx="28346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ESP32 controller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8368" y="1298448"/>
            <a:ext cx="1883664" cy="1472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/mnt/data/WhatsApp Image 2026-05-24 at 2.49.05 P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508" y="1325880"/>
            <a:ext cx="849383" cy="1417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MPU9250/6500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61488" y="1207008"/>
            <a:ext cx="1655064" cy="1655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/mnt/data/WhatsApp Image 2026-05-24 at 2.49.06 PM (2)(1)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429328"/>
            <a:ext cx="1600200" cy="12104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2880360"/>
            <a:ext cx="1600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NEO-6M GPS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699248" y="1207008"/>
            <a:ext cx="1792224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3" descr="/mnt/data/WhatsApp Image 2026-05-24 at 2.21.08 PM(1)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358" y="1234440"/>
            <a:ext cx="1416005" cy="1463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26680" y="2743200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OLED display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1298448"/>
            <a:ext cx="1837944" cy="1472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9" name="Image 4" descr="/mnt/data/WhatsApp Image 2026-05-24 at 2.21.05 PM(1)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57" y="1325880"/>
            <a:ext cx="1599766" cy="1417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829800" y="2788920"/>
            <a:ext cx="17830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LoRa Ra-01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704088" y="3904488"/>
            <a:ext cx="1883664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22" name="Image 5" descr="/mnt/data/WhatsApp Image 2026-05-24 at 3.57.52 PM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710" y="3931920"/>
            <a:ext cx="500420" cy="1371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1520" y="5349240"/>
            <a:ext cx="18288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Buzzer + cancel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2807208" y="3995928"/>
            <a:ext cx="1655064" cy="1380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6" descr="/mnt/data/WhatsApp Image 2026-05-24 at 2.49.04 PM(1).jpe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128" y="4023360"/>
            <a:ext cx="801225" cy="1325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834640" y="5394960"/>
            <a:ext cx="1600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TP4056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7790688" y="3904488"/>
            <a:ext cx="1792224" cy="1472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28" name="Image 7" descr="/mnt/data/WhatsApp Image 2026-05-24 at 2.49.06 PM (1).jpe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305" y="3931920"/>
            <a:ext cx="748990" cy="1417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818120" y="5394960"/>
            <a:ext cx="17373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MT3608 boost</a:t>
            </a:r>
            <a:endParaRPr lang="en-US" sz="850" dirty="0"/>
          </a:p>
        </p:txBody>
      </p:sp>
      <p:sp>
        <p:nvSpPr>
          <p:cNvPr id="30" name="Shape 20"/>
          <p:cNvSpPr/>
          <p:nvPr/>
        </p:nvSpPr>
        <p:spPr>
          <a:xfrm>
            <a:off x="9893808" y="3904488"/>
            <a:ext cx="1655064" cy="1472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31" name="Image 8" descr="/mnt/data/WhatsApp Image 2026-05-24 at 3.57.50 PM.jpe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240" y="4040505"/>
            <a:ext cx="1600200" cy="12001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921240" y="5394960"/>
            <a:ext cx="1600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18650 cell</a:t>
            </a:r>
            <a:endParaRPr lang="en-US" sz="850" dirty="0"/>
          </a:p>
        </p:txBody>
      </p:sp>
      <p:sp>
        <p:nvSpPr>
          <p:cNvPr id="33" name="Text 22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34" name="Text 23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circuit connections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Key pin mapping and power chain used for the working prototype.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" y="1115568"/>
            <a:ext cx="5952744" cy="4306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user-flMJPDzy1SwV1s8hHTK6Iu3b/64e4a66a2b184bb8a63ae4c469e3da6b/mnt/data/final_report_assets/final_circui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617" y="1143000"/>
            <a:ext cx="5466806" cy="4251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440680"/>
            <a:ext cx="5897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Final connection diagram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949440" y="1280160"/>
            <a:ext cx="1645920" cy="384048"/>
          </a:xfrm>
          <a:prstGeom prst="rect">
            <a:avLst/>
          </a:prstGeom>
          <a:solidFill>
            <a:srgbClr val="0B1F33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Module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8595360" y="1280160"/>
            <a:ext cx="2926080" cy="384048"/>
          </a:xfrm>
          <a:prstGeom prst="rect">
            <a:avLst/>
          </a:prstGeom>
          <a:solidFill>
            <a:srgbClr val="0B1F33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ESP32 connection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949440" y="1664208"/>
            <a:ext cx="16459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</a:rPr>
              <a:t>MPU SDA/SCL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8595360" y="1664208"/>
            <a:ext cx="29260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GPIO21 / GPIO22</a:t>
            </a:r>
            <a:endParaRPr lang="en-US" sz="890" dirty="0"/>
          </a:p>
        </p:txBody>
      </p:sp>
      <p:sp>
        <p:nvSpPr>
          <p:cNvPr id="13" name="Text 10"/>
          <p:cNvSpPr/>
          <p:nvPr/>
        </p:nvSpPr>
        <p:spPr>
          <a:xfrm>
            <a:off x="6949440" y="2048256"/>
            <a:ext cx="1645920" cy="384048"/>
          </a:xfrm>
          <a:prstGeom prst="rect">
            <a:avLst/>
          </a:prstGeom>
          <a:solidFill>
            <a:srgbClr val="F4FAFC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</a:rPr>
              <a:t>OLED SDA/SCL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595360" y="2048256"/>
            <a:ext cx="2926080" cy="384048"/>
          </a:xfrm>
          <a:prstGeom prst="rect">
            <a:avLst/>
          </a:prstGeom>
          <a:solidFill>
            <a:srgbClr val="F4FAFC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GPIO32 / GPIO33</a:t>
            </a:r>
            <a:endParaRPr lang="en-US" sz="890" dirty="0"/>
          </a:p>
        </p:txBody>
      </p:sp>
      <p:sp>
        <p:nvSpPr>
          <p:cNvPr id="15" name="Text 12"/>
          <p:cNvSpPr/>
          <p:nvPr/>
        </p:nvSpPr>
        <p:spPr>
          <a:xfrm>
            <a:off x="6949440" y="2432304"/>
            <a:ext cx="16459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</a:rPr>
              <a:t>GPS TX/RX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595360" y="2432304"/>
            <a:ext cx="29260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GPIO16 / GPIO17</a:t>
            </a:r>
            <a:endParaRPr lang="en-US" sz="890" dirty="0"/>
          </a:p>
        </p:txBody>
      </p:sp>
      <p:sp>
        <p:nvSpPr>
          <p:cNvPr id="17" name="Text 14"/>
          <p:cNvSpPr/>
          <p:nvPr/>
        </p:nvSpPr>
        <p:spPr>
          <a:xfrm>
            <a:off x="6949440" y="2816352"/>
            <a:ext cx="1645920" cy="384048"/>
          </a:xfrm>
          <a:prstGeom prst="rect">
            <a:avLst/>
          </a:prstGeom>
          <a:solidFill>
            <a:srgbClr val="F4FAFC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</a:rPr>
              <a:t>Buzzer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595360" y="2816352"/>
            <a:ext cx="2926080" cy="384048"/>
          </a:xfrm>
          <a:prstGeom prst="rect">
            <a:avLst/>
          </a:prstGeom>
          <a:solidFill>
            <a:srgbClr val="F4FAFC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GPIO27</a:t>
            </a:r>
            <a:endParaRPr lang="en-US" sz="890" dirty="0"/>
          </a:p>
        </p:txBody>
      </p:sp>
      <p:sp>
        <p:nvSpPr>
          <p:cNvPr id="19" name="Text 16"/>
          <p:cNvSpPr/>
          <p:nvPr/>
        </p:nvSpPr>
        <p:spPr>
          <a:xfrm>
            <a:off x="6949440" y="3200400"/>
            <a:ext cx="16459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</a:rPr>
              <a:t>Cancel button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8595360" y="3200400"/>
            <a:ext cx="29260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GPIO25 to GND</a:t>
            </a:r>
            <a:endParaRPr lang="en-US" sz="890" dirty="0"/>
          </a:p>
        </p:txBody>
      </p:sp>
      <p:sp>
        <p:nvSpPr>
          <p:cNvPr id="21" name="Text 18"/>
          <p:cNvSpPr/>
          <p:nvPr/>
        </p:nvSpPr>
        <p:spPr>
          <a:xfrm>
            <a:off x="6949440" y="3584448"/>
            <a:ext cx="1645920" cy="384048"/>
          </a:xfrm>
          <a:prstGeom prst="rect">
            <a:avLst/>
          </a:prstGeom>
          <a:solidFill>
            <a:srgbClr val="F4FAFC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</a:rPr>
              <a:t>LoRa SPI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8595360" y="3584448"/>
            <a:ext cx="2926080" cy="384048"/>
          </a:xfrm>
          <a:prstGeom prst="rect">
            <a:avLst/>
          </a:prstGeom>
          <a:solidFill>
            <a:srgbClr val="F4FAFC"/>
          </a:solidFill>
          <a:ln w="7620">
            <a:solidFill>
              <a:srgbClr val="BCD6E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SCK18 MISO19 MOSI23 CS5 RST14 DIO0 26</a:t>
            </a:r>
            <a:endParaRPr lang="en-US" sz="890" dirty="0"/>
          </a:p>
        </p:txBody>
      </p:sp>
      <p:sp>
        <p:nvSpPr>
          <p:cNvPr id="23" name="Text 20"/>
          <p:cNvSpPr/>
          <p:nvPr/>
        </p:nvSpPr>
        <p:spPr>
          <a:xfrm>
            <a:off x="6949440" y="4251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Power chain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49440" y="4663440"/>
            <a:ext cx="960120" cy="68580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18650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Cell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955280" y="5010912"/>
            <a:ext cx="5029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8503920" y="4663440"/>
            <a:ext cx="1143000" cy="68580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TP4056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Charging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692640" y="5010912"/>
            <a:ext cx="5029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10241280" y="4663440"/>
            <a:ext cx="960120" cy="68580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MT3608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5V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95160" y="5650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Common GND is mandatory for all modules.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layered IoT architecture: sensing, processing, decision, display and communication.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441448"/>
            <a:ext cx="6858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06240" y="2441448"/>
            <a:ext cx="6858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55080" y="2441448"/>
            <a:ext cx="6858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03920" y="2441448"/>
            <a:ext cx="6858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371600" cy="960120"/>
          </a:xfrm>
          <a:prstGeom prst="roundRect">
            <a:avLst/>
          </a:prstGeom>
          <a:solidFill>
            <a:srgbClr val="E8FAFC"/>
          </a:solidFill>
          <a:ln w="17780">
            <a:solidFill>
              <a:srgbClr val="00A6A6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Sensors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MPU + GPS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1463040" cy="96012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ESP32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1463040" cy="96012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F6B93B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1463040" cy="960120"/>
          </a:xfrm>
          <a:prstGeom prst="roundRect">
            <a:avLst/>
          </a:prstGeom>
          <a:solidFill>
            <a:srgbClr val="F3E8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Outputs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OLED + Buzzer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89720" y="1965960"/>
            <a:ext cx="1737360" cy="96012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Alerts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TG + SMS + LoRa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Acceleration, gyro, tilt, speed, coordinates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Filters readings and calculates magnitudes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Impact + tilt + 10 s cancel window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Shows status and local warning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897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54052"/>
                </a:solidFill>
              </a:rPr>
              <a:t>Sends location link to contacts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5257800"/>
            <a:ext cx="7223760" cy="438912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Sensor fusion converts raw motion into reliable accident decision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Accident detection logic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prototype confirms an accident only when multiple conditions match within a time window.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42976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02A43"/>
                </a:solidFill>
              </a:rPr>
              <a:t>A single jerk or tilt alone should not immediately send emergency messages. The system combines impact, rotation, tilt and confirmation time to avoid false alerts.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5715000" y="1234440"/>
            <a:ext cx="2148840" cy="914400"/>
          </a:xfrm>
          <a:prstGeom prst="roundRect">
            <a:avLst/>
          </a:prstGeom>
          <a:solidFill>
            <a:srgbClr val="E8FAFC"/>
          </a:solidFill>
          <a:ln w="17780">
            <a:solidFill>
              <a:srgbClr val="00A6A6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Impact condition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ACC_MAG &gt; threshold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or GYRO_MAG &gt; threshold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0" y="1234440"/>
            <a:ext cx="2148840" cy="91440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Tilt condition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Roll/Pitch change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&gt; angle threshold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700784"/>
            <a:ext cx="82296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903720" y="2880360"/>
            <a:ext cx="2286000" cy="841248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F6B93B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Both occur within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detection window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0" cy="68580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035040" y="4343400"/>
            <a:ext cx="2194560" cy="822960"/>
          </a:xfrm>
          <a:prstGeom prst="roundRect">
            <a:avLst/>
          </a:prstGeom>
          <a:solidFill>
            <a:srgbClr val="F3E8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ACCIDENT SUSPECTED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Cancel button active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641080" y="4343400"/>
            <a:ext cx="2194560" cy="82296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ACCIDENT CONFIRMED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Alerts transmitted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183880" y="4754880"/>
            <a:ext cx="45720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Decision rule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A6A6"/>
                </a:solidFill>
              </a:rPr>
              <a:t>Impact + Tilt + Confirmation Delay → Accident Confirmed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Cancel button stops false alert before messages are sent.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working sequence from power-on to alert delivery.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59436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2331720"/>
            <a:ext cx="59436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0" y="2331720"/>
            <a:ext cx="59436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89520" y="2331720"/>
            <a:ext cx="59436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509760" y="2331720"/>
            <a:ext cx="59436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1325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Power ON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Initialize MPU, GPS, OLED, WiFi, LoRa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423160" y="1828800"/>
            <a:ext cx="1325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Calibrate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Set normal roll/pitch baseline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343400" y="1828800"/>
            <a:ext cx="1325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6B93B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Monitor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Read ACC, gyro, tilt and GPS speed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1325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Suspect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Impact + tilt detected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8183880" y="1828800"/>
            <a:ext cx="1325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Cancel?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User gets 10 seconds to stop false alert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10104120" y="1828800"/>
            <a:ext cx="1325880" cy="1051560"/>
          </a:xfrm>
          <a:prstGeom prst="roundRect">
            <a:avLst/>
          </a:prstGeom>
          <a:solidFill>
            <a:srgbClr val="E7F0FF"/>
          </a:solidFill>
          <a:ln w="17780">
            <a:solidFill>
              <a:srgbClr val="0B1F33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Confirm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02A43"/>
                </a:solidFill>
              </a:rPr>
              <a:t>Accident confirmed and alerts sent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823960" y="2880360"/>
            <a:ext cx="0" cy="960120"/>
          </a:xfrm>
          <a:prstGeom prst="line">
            <a:avLst/>
          </a:prstGeom>
          <a:noFill/>
          <a:ln w="2159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35240" y="3977640"/>
            <a:ext cx="2377440" cy="86868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Button pressed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ALERT CANCELLED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No message sent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53492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2A43"/>
                </a:solidFill>
              </a:rPr>
              <a:t>If cancel is not pressed, the system confirms accident and triggers Telegram + SMS + LoRa.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Communication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Three alert paths share the same accident message with GPS link.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09160" y="2377440"/>
            <a:ext cx="2103120" cy="1143000"/>
          </a:xfrm>
          <a:prstGeom prst="roundRect">
            <a:avLst/>
          </a:prstGeom>
          <a:solidFill>
            <a:srgbClr val="E7F0FF"/>
          </a:solidFill>
          <a:ln w="17780">
            <a:solidFill>
              <a:srgbClr val="0B1F33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ESP32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Accident confirmed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Message prepared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663440" y="2743200"/>
            <a:ext cx="-1828800" cy="-77724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60720" y="3520440"/>
            <a:ext cx="0" cy="1188720"/>
          </a:xfrm>
          <a:prstGeom prst="line">
            <a:avLst/>
          </a:prstGeom>
          <a:noFill/>
          <a:ln w="22860">
            <a:solidFill>
              <a:srgbClr val="00B8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0" y="2743200"/>
            <a:ext cx="1828800" cy="-77724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8680" y="1417320"/>
            <a:ext cx="2560320" cy="1188720"/>
          </a:xfrm>
          <a:prstGeom prst="roundRect">
            <a:avLst/>
          </a:prstGeom>
          <a:solidFill>
            <a:srgbClr val="E8FAFC"/>
          </a:solidFill>
          <a:ln w="17780">
            <a:solidFill>
              <a:srgbClr val="00A6A6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Telegram Bot API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Internet message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Maps link opens directly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4526280" y="4754880"/>
            <a:ext cx="2514600" cy="105156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Fast2SMS API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Normal SMS alert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No app required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275320" y="1417320"/>
            <a:ext cx="2743200" cy="1188720"/>
          </a:xfrm>
          <a:prstGeom prst="roundRect">
            <a:avLst/>
          </a:prstGeom>
          <a:solidFill>
            <a:srgbClr val="F3E8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LoRa Ra-01/SX1278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RF packet to receiver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Long range local backup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554480" y="5989320"/>
            <a:ext cx="9052560" cy="411480"/>
          </a:xfrm>
          <a:prstGeom prst="roundRect">
            <a:avLst/>
          </a:prstGeom>
          <a:solidFill>
            <a:srgbClr val="F2FB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608990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Alert format: ACCIDENT CONFIRMED | Latitude | Longitude | Speed | Google Maps Link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LoRa transmitter–receiver alert path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LoRa is included as an RF communication path in the final model.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4088" y="1298448"/>
            <a:ext cx="2157984" cy="16093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WhatsApp Image 2026-05-24 at 2.21.05 PM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789" y="1325880"/>
            <a:ext cx="1754582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26080"/>
            <a:ext cx="21031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Ai-Thinker Ra-01 LoRa module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657600" y="1417320"/>
            <a:ext cx="2194560" cy="1097280"/>
          </a:xfrm>
          <a:prstGeom prst="roundRect">
            <a:avLst/>
          </a:prstGeom>
          <a:solidFill>
            <a:srgbClr val="E8FAFC"/>
          </a:solidFill>
          <a:ln w="17780">
            <a:solidFill>
              <a:srgbClr val="00A6A6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Transmitter side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ESP32 sends packet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when accident is confirmed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583680" y="1417320"/>
            <a:ext cx="2103120" cy="1097280"/>
          </a:xfrm>
          <a:prstGeom prst="roundRect">
            <a:avLst/>
          </a:prstGeom>
          <a:solidFill>
            <a:srgbClr val="F3E8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LoRa RF link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410–525 MHz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Packet reaches receiver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9235440" y="1417320"/>
            <a:ext cx="2148840" cy="1097280"/>
          </a:xfrm>
          <a:prstGeom prst="roundRect">
            <a:avLst/>
          </a:prstGeom>
          <a:solidFill>
            <a:srgbClr val="E8FFF6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Receiver/gateway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Displays/logs packet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can forward to contact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2834640" y="1965960"/>
            <a:ext cx="77724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852160" y="1965960"/>
            <a:ext cx="731520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686800" y="1965960"/>
            <a:ext cx="502920" cy="0"/>
          </a:xfrm>
          <a:prstGeom prst="line">
            <a:avLst/>
          </a:prstGeom>
          <a:noFill/>
          <a:ln w="22860">
            <a:solidFill>
              <a:srgbClr val="00B894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315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Message packet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31520" y="4160520"/>
            <a:ext cx="10698480" cy="56692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F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ACCIDENT_CONFIRMED | LAT: 25.461xxx | LON: 85.511xxx | SPEED: 0.00 km/h | MAP_LINK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</a:rPr>
              <a:t>Use in presentation: LoRa demonstrates that the system is not limited to internet-only communication. The receiver can act as a local emergency gateway in remote or weak-network regions.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OLED status outputs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OLED makes the prototype easy to understand during live demonstration.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" y="1435608"/>
            <a:ext cx="2020824" cy="1929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normal_rotated.jpg">    </p:cNvPr>
          <p:cNvPicPr>
            <a:picLocks noChangeAspect="1"/>
          </p:cNvPicPr>
          <p:nvPr/>
        </p:nvPicPr>
        <p:blipFill>
          <a:blip r:embed="rId1"/>
          <a:srcRect l="5000" r="24207" t="5000" b="5000"/>
          <a:stretch/>
        </p:blipFill>
        <p:spPr>
          <a:xfrm>
            <a:off x="502920" y="1463040"/>
            <a:ext cx="1965960" cy="1874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383280"/>
            <a:ext cx="1965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Normal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807208" y="1435608"/>
            <a:ext cx="2020824" cy="1929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/mnt/data/WhatsApp Image 2026-05-24 at 4.01.59 PM.jpeg">    </p:cNvPr>
          <p:cNvPicPr>
            <a:picLocks noChangeAspect="1"/>
          </p:cNvPicPr>
          <p:nvPr/>
        </p:nvPicPr>
        <p:blipFill>
          <a:blip r:embed="rId2"/>
          <a:srcRect l="5000" r="7807" t="5000" b="5000"/>
          <a:stretch/>
        </p:blipFill>
        <p:spPr>
          <a:xfrm>
            <a:off x="2834640" y="1463040"/>
            <a:ext cx="1965960" cy="1874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34640" y="3383280"/>
            <a:ext cx="1965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Tilt detected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138928" y="1435608"/>
            <a:ext cx="2020824" cy="1929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/mnt/data/WhatsApp Image 2026-05-24 at 4.01.02 PM.jpeg">    </p:cNvPr>
          <p:cNvPicPr>
            <a:picLocks noChangeAspect="1"/>
          </p:cNvPicPr>
          <p:nvPr/>
        </p:nvPicPr>
        <p:blipFill>
          <a:blip r:embed="rId3"/>
          <a:srcRect l="5000" r="-30854" t="5000" b="5000"/>
          <a:stretch/>
        </p:blipFill>
        <p:spPr>
          <a:xfrm>
            <a:off x="5166360" y="1463040"/>
            <a:ext cx="1965960" cy="1874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6360" y="3383280"/>
            <a:ext cx="1965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Accident suspected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470648" y="1435608"/>
            <a:ext cx="2020824" cy="1929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3" descr="/mnt/data/WhatsApp Image 2026-05-24 at 3.58.57 PM.jpeg">    </p:cNvPr>
          <p:cNvPicPr>
            <a:picLocks noChangeAspect="1"/>
          </p:cNvPicPr>
          <p:nvPr/>
        </p:nvPicPr>
        <p:blipFill>
          <a:blip r:embed="rId4"/>
          <a:srcRect l="5000" r="-30854" t="5000" b="5000"/>
          <a:stretch/>
        </p:blipFill>
        <p:spPr>
          <a:xfrm>
            <a:off x="7498080" y="1463040"/>
            <a:ext cx="1965960" cy="1874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0" y="3383280"/>
            <a:ext cx="1965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Alert cancelled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1435608"/>
            <a:ext cx="2020824" cy="1929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9" name="Image 4" descr="/mnt/data/alerts_rotated.jpg">    </p:cNvPr>
          <p:cNvPicPr>
            <a:picLocks noChangeAspect="1"/>
          </p:cNvPicPr>
          <p:nvPr/>
        </p:nvPicPr>
        <p:blipFill>
          <a:blip r:embed="rId5"/>
          <a:srcRect l="5000" r="24207" t="5000" b="5000"/>
          <a:stretch/>
        </p:blipFill>
        <p:spPr>
          <a:xfrm>
            <a:off x="9829800" y="1463040"/>
            <a:ext cx="1965960" cy="18745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829800" y="3383280"/>
            <a:ext cx="1965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Alerts sent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914400" y="48006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A6"/>
                </a:solidFill>
              </a:rPr>
              <a:t>Shown states: NORMAL → TILT DETECTED → ACCIDENT SUSPECTED → ALERT CANCELLED or ALERTS SENT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097280" y="5394960"/>
            <a:ext cx="9875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A43"/>
                </a:solidFill>
              </a:rPr>
              <a:t>This visual feedback helps the user verify GPS lock, WiFi status, speed, sensor readings and final alert status without using Serial Monitor.</a:t>
            </a:r>
            <a:endParaRPr lang="en-US" sz="1220" dirty="0"/>
          </a:p>
        </p:txBody>
      </p:sp>
      <p:sp>
        <p:nvSpPr>
          <p:cNvPr id="23" name="Text 16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4" name="Text 17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 alert messages received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Both Telegram and normal SMS carry the accident status and GPS location link.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207008"/>
            <a:ext cx="4809744" cy="4306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WhatsApp Image 2026-05-25 at 1.37.20 A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0991"/>
            <a:ext cx="4754880" cy="33988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532120"/>
            <a:ext cx="4754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Telegram Bot message received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64808" y="1207008"/>
            <a:ext cx="4261104" cy="4306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/mnt/data/WhatsApp Image 2026-05-25 at 1.37.19 A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669" y="1234440"/>
            <a:ext cx="1913382" cy="4251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5532120"/>
            <a:ext cx="42062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Fast2SMS normal SMS received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51560" y="5897880"/>
            <a:ext cx="100126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Message includes: Accident Confirmed • Latitude • Longitude • Speed • Google Maps Link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prototype was verified through module-level and system-level output states.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258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Normal state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13258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OLED shows NORMAL, GPS LOCK and WiFi OK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784080" y="1289304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84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Tilt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1984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OLED shows TILT DETECTED when roll/pitch threshold crosses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784080" y="1947672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145536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426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Accident test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264261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OLED shows ACCIDENT SUSPECTED then confirms after cancel window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784080" y="260604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803904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009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Cancel button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63240" y="330098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Alert cancelled and no emergency message sent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784080" y="3264408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4462272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593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Telegram alert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63240" y="395935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Message received with Google Maps link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9784080" y="3922776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17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Fast2SMS alert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63240" y="46177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Normal SMS received with GPS link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784080" y="4581144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5779008"/>
            <a:ext cx="10607040" cy="0"/>
          </a:xfrm>
          <a:prstGeom prst="line">
            <a:avLst/>
          </a:prstGeom>
          <a:noFill/>
          <a:ln w="8890">
            <a:solidFill>
              <a:srgbClr val="DDE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760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LoRa alert path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063240" y="52760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Transmitter/receiver packet included as RF alert path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9784080" y="5239512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00B894"/>
          </a:solidFill>
          <a:ln>
            <a:solidFill>
              <a:srgbClr val="00B89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False-alert control and reliability features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project includes safeguards so the alert is not sent on every small movement.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1298448"/>
            <a:ext cx="3255264" cy="23408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mnt/data/WhatsApp Image 2026-05-24 at 3.58.57 PM.jpeg">    </p:cNvPr>
          <p:cNvPicPr>
            <a:picLocks noChangeAspect="1"/>
          </p:cNvPicPr>
          <p:nvPr/>
        </p:nvPicPr>
        <p:blipFill>
          <a:blip r:embed="rId1"/>
          <a:srcRect l="0" r="0" t="23214" b="23214"/>
          <a:stretch/>
        </p:blipFill>
        <p:spPr>
          <a:xfrm>
            <a:off x="777240" y="1325880"/>
            <a:ext cx="32004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57600"/>
            <a:ext cx="32004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</a:rPr>
              <a:t>Cancel button result: alert cancelled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Built-in safeguards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617720" y="1947672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920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Baseline calibration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1920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Normal mounting position is recorded at startup.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617720" y="2569464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25420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Two-condition logic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20840" y="2542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Impact/rotation and tilt must occur within a detection window.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4617720" y="3191256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1638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10-second cancel window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31638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User can stop false alert before messages are sent.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4617720" y="3813048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7856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Alert status feedback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20840" y="37856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OLED confirms whether TG/SMS messages were sent.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4617720" y="4434840"/>
            <a:ext cx="109728" cy="1097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4407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Local buzzer warning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20840" y="4407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54052"/>
                </a:solidFill>
              </a:rPr>
              <a:t>Buzzer warns during suspected/confirmed state and stops when alerts complete.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D8E8"/>
          </a:solidFill>
          <a:ln w="12700">
            <a:solidFill>
              <a:srgbClr val="33D8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D8EEF4"/>
          </a:solidFill>
          <a:ln w="12700">
            <a:solidFill>
              <a:srgbClr val="D8EEF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 and real-world extension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same prototype can be extended toward a deployable emergency response platform.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5074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74C3C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ERSS-112 integration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Future alert routing through approved government emergency response integration after official permission.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263640" y="1371600"/>
            <a:ext cx="5074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Cloud dashboard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Store accident history, live vehicle status and location trails.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5074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B894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Mobile application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Family members can track alerts, cancel false alarms and call emergency services.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263640" y="2724912"/>
            <a:ext cx="5074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6B93B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ML-based detection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Use real driving data to tune thresholds and reduce false positives.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77240" y="4078224"/>
            <a:ext cx="5074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Rugged enclosure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Waterproof, shock-resistant vehicle-mounted hardware.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263640" y="4078224"/>
            <a:ext cx="5074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B1F33"/>
            </a:solidFill>
          </a:ln>
          <a:effectLst>
            <a:outerShdw sx="100000" sy="100000" kx="0" ky="0" algn="bl" rotWithShape="0" blurRad="12700" dist="50800" dir="2700000">
              <a:srgbClr val="000000">
                <a:alpha val="14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Vehicle power interface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</a:rPr>
              <a:t>Direct vehicle battery interface with protection circuitry.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005840" y="5806440"/>
            <a:ext cx="10149840" cy="420624"/>
          </a:xfrm>
          <a:prstGeom prst="roundRect">
            <a:avLst>
              <a:gd name="adj" fmla="val 17391"/>
            </a:avLst>
          </a:prstGeom>
          <a:solidFill>
            <a:srgbClr val="E74C3C"/>
          </a:solidFill>
          <a:ln>
            <a:solidFill>
              <a:srgbClr val="E74C3C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Important: government emergency alerts require approved ERSS integration and authorization.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9436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B99"/>
                </a:solidFill>
              </a:rPr>
              <a:t>IoT-Based Vehicle Accident Detection &amp; Emergency Alert System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B99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16459"/>
          </a:xfrm>
          <a:prstGeom prst="rect">
            <a:avLst/>
          </a:prstGeom>
          <a:solidFill>
            <a:srgbClr val="11334A"/>
          </a:solidFill>
          <a:ln w="12700">
            <a:solidFill>
              <a:srgbClr val="113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2"/>
          </a:solidFill>
          <a:ln w="12700">
            <a:solidFill>
              <a:srgbClr val="0614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85800"/>
            <a:ext cx="3017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5486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F8FF"/>
                </a:solidFill>
              </a:rPr>
              <a:t>The project demonstrates a practical IoT-based accident detection and emergency alert system using real hardware, GPS location, live OLED feedback and multi-channel alert delivery.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D8E8"/>
                </a:solidFill>
              </a:rPr>
              <a:t>Accident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C7D2"/>
                </a:solidFill>
              </a:rPr>
              <a:t>Impact, gyro and tilt-based confirmation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75888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D8E8"/>
                </a:solidFill>
              </a:rPr>
              <a:t>Alert delivery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75888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C7D2"/>
                </a:solidFill>
              </a:rPr>
              <a:t>Telegram + SMS + LoRa message path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114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D8E8"/>
                </a:solidFill>
              </a:rPr>
              <a:t>False alert control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4434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C7D2"/>
                </a:solidFill>
              </a:rPr>
              <a:t>Cancel button before final confirmation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75888" y="4114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D8E8"/>
                </a:solidFill>
              </a:rPr>
              <a:t>Real-time visibility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75888" y="4434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C7D2"/>
                </a:solidFill>
              </a:rPr>
              <a:t>OLED status and local buzzer feedback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56248" y="978408"/>
            <a:ext cx="4764024" cy="4443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6EC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0" descr="/mnt/data/WhatsApp Image 2026-05-24 at 4.04.30 PM.jpeg">    </p:cNvPr>
          <p:cNvPicPr>
            <a:picLocks noChangeAspect="1"/>
          </p:cNvPicPr>
          <p:nvPr/>
        </p:nvPicPr>
        <p:blipFill>
          <a:blip r:embed="rId1"/>
          <a:srcRect l="2000" r="-24619" t="3000" b="5000"/>
          <a:stretch/>
        </p:blipFill>
        <p:spPr>
          <a:xfrm>
            <a:off x="6583680" y="1005840"/>
            <a:ext cx="4709160" cy="4389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5989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Thank You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Bakhtiyarpur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Accident Detection Project Presentation</dc:title>
  <dc:subject>IoT-Based Vehicle Accident Detection and Emergency Alert System</dc:subject>
  <dc:creator>OpenAI</dc:creator>
  <cp:lastModifiedBy>OpenAI</cp:lastModifiedBy>
  <cp:revision>1</cp:revision>
  <dcterms:created xsi:type="dcterms:W3CDTF">2026-05-31T07:37:45Z</dcterms:created>
  <dcterms:modified xsi:type="dcterms:W3CDTF">2026-05-31T07:37:45Z</dcterms:modified>
</cp:coreProperties>
</file>